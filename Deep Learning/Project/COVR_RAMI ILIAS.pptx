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267275" cy="42794238"/>
  <p:notesSz cx="7004050" cy="9290050"/>
  <p:defaultTextStyle>
    <a:defPPr>
      <a:defRPr lang="en-US"/>
    </a:defPPr>
    <a:lvl1pPr marL="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727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455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183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49113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36390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3668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0946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698224" algn="l" defTabSz="4174556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60" autoAdjust="0"/>
    <p:restoredTop sz="94676" autoAdjust="0"/>
  </p:normalViewPr>
  <p:slideViewPr>
    <p:cSldViewPr>
      <p:cViewPr>
        <p:scale>
          <a:sx n="50" d="100"/>
          <a:sy n="50" d="100"/>
        </p:scale>
        <p:origin x="636" y="-7764"/>
      </p:cViewPr>
      <p:guideLst>
        <p:guide orient="horz" pos="13479"/>
        <p:guide pos="953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29426517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840758" cy="427942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0267275" cy="53492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37444959"/>
            <a:ext cx="30267275" cy="53492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endParaRPr lang="en-US" dirty="0"/>
          </a:p>
        </p:txBody>
      </p:sp>
      <p:sp>
        <p:nvSpPr>
          <p:cNvPr id="9" name="Instructions"/>
          <p:cNvSpPr/>
          <p:nvPr userDrawn="1"/>
        </p:nvSpPr>
        <p:spPr>
          <a:xfrm>
            <a:off x="-12611365" y="0"/>
            <a:ext cx="11770607" cy="427942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7425" tIns="217425" rIns="217425" bIns="217425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88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set up for A0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international paper size of 1189 mm x 841 mm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(46.8” high by 33.1” wide). It can be printed at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70.6% for an A1 poster of 841 mm x 594 mm.</a:t>
            </a:r>
            <a:endParaRPr lang="en-US" sz="60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88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8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0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0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282"/>
              </a:spcAft>
            </a:pPr>
            <a:r>
              <a:rPr lang="en-US" sz="60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282"/>
              </a:spcAft>
            </a:pPr>
            <a:b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4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31108033" y="0"/>
            <a:ext cx="11770607" cy="42794238"/>
            <a:chOff x="33832800" y="0"/>
            <a:chExt cx="12801600" cy="43891200"/>
          </a:xfrm>
        </p:grpSpPr>
        <p:sp>
          <p:nvSpPr>
            <p:cNvPr id="13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88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88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8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0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delivery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282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0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International: +(1) 913-441-1410</a:t>
              </a:r>
              <a:b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0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4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8425085"/>
              <a:ext cx="11904515" cy="10246926"/>
            </a:xfrm>
            <a:prstGeom prst="rect">
              <a:avLst/>
            </a:prstGeom>
          </p:spPr>
        </p:pic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1037" y="42504519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13364" y="1713754"/>
            <a:ext cx="27240548" cy="7132373"/>
          </a:xfrm>
          <a:prstGeom prst="rect">
            <a:avLst/>
          </a:prstGeom>
        </p:spPr>
        <p:txBody>
          <a:bodyPr vert="horz" lIns="417456" tIns="208727" rIns="417456" bIns="208727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3364" y="9985326"/>
            <a:ext cx="27240548" cy="28242219"/>
          </a:xfrm>
          <a:prstGeom prst="rect">
            <a:avLst/>
          </a:prstGeom>
        </p:spPr>
        <p:txBody>
          <a:bodyPr vert="horz" lIns="417456" tIns="208727" rIns="417456" bIns="208727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3364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1/25/2025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341319" y="39663922"/>
            <a:ext cx="9584637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91547" y="39663922"/>
            <a:ext cx="7062364" cy="2278397"/>
          </a:xfrm>
          <a:prstGeom prst="rect">
            <a:avLst/>
          </a:prstGeom>
        </p:spPr>
        <p:txBody>
          <a:bodyPr vert="horz" lIns="417456" tIns="208727" rIns="417456" bIns="208727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174556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4850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69699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549" indent="-434850" algn="l" defTabSz="4174556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1739398" indent="-434850" algn="l" defTabSz="4174556" rtl="0" eaLnBrk="1" latinLnBrk="0" hangingPunct="1">
        <a:spcBef>
          <a:spcPct val="20000"/>
        </a:spcBef>
        <a:buFont typeface="Arial" pitchFamily="34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2174248" indent="-434850" algn="l" defTabSz="4174556" rtl="0" eaLnBrk="1" latinLnBrk="0" hangingPunct="1">
        <a:spcBef>
          <a:spcPct val="20000"/>
        </a:spcBef>
        <a:buFont typeface="Arial" pitchFamily="34" charset="0"/>
        <a:buChar char="»"/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0029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567307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654585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1863" indent="-1043639" algn="l" defTabSz="4174556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727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455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183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49113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36390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3668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0946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698224" algn="l" defTabSz="4174556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jp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4570801" y="668964"/>
            <a:ext cx="21117102" cy="204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434850" rIns="173940" bIns="43485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7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Composed Image Retrieval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4570801" y="3120414"/>
            <a:ext cx="21117102" cy="2228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73940" tIns="173940" rIns="173940" bIns="17394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RAMI Ilias</a:t>
            </a:r>
            <a:r>
              <a:rPr lang="en-US" sz="4600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1</a:t>
            </a:r>
          </a:p>
          <a:p>
            <a:pPr algn="ctr" eaLnBrk="1" hangingPunct="1"/>
            <a:r>
              <a:rPr lang="en-US" sz="4600" baseline="300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1</a:t>
            </a:r>
            <a:r>
              <a:rPr lang="en-US" sz="46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ENS Paris-</a:t>
            </a:r>
            <a:r>
              <a:rPr lang="en-US" sz="4600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Saclay</a:t>
            </a:r>
            <a:endParaRPr lang="en-US" sz="46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815153" y="39154416"/>
            <a:ext cx="13452122" cy="2852949"/>
          </a:xfrm>
          <a:prstGeom prst="rect">
            <a:avLst/>
          </a:prstGeom>
          <a:noFill/>
        </p:spPr>
        <p:txBody>
          <a:bodyPr wrap="square" lIns="86970" tIns="86970" rIns="86970" bIns="86970" numCol="1" spcCol="434850" rtlCol="0">
            <a:noAutofit/>
          </a:bodyPr>
          <a:lstStyle/>
          <a:p>
            <a:pPr marL="434850" indent="-434850">
              <a:buFont typeface="+mj-lt"/>
              <a:buAutoNum type="arabicPeriod"/>
            </a:pPr>
            <a:r>
              <a:rPr lang="en-US" sz="1600" dirty="0"/>
              <a:t> L. Ventura, A. Yang, C. Schmid, and G. </a:t>
            </a:r>
            <a:r>
              <a:rPr lang="en-US" sz="1600" dirty="0" err="1"/>
              <a:t>Varol</a:t>
            </a:r>
            <a:r>
              <a:rPr lang="en-US" sz="1600" dirty="0"/>
              <a:t>, “</a:t>
            </a:r>
            <a:r>
              <a:rPr lang="en-US" sz="1600" dirty="0" err="1"/>
              <a:t>Covr</a:t>
            </a:r>
            <a:r>
              <a:rPr lang="en-US" sz="1600" dirty="0"/>
              <a:t>: Learning composed video retrieval from web video captions,” AAAI, 2023. </a:t>
            </a:r>
            <a:r>
              <a:rPr lang="en-US" sz="1600" dirty="0" err="1"/>
              <a:t>arXiv</a:t>
            </a:r>
            <a:r>
              <a:rPr lang="en-US" sz="1600" dirty="0"/>
              <a:t> preprint arXiv:2308.14746.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J. Li, D. Li, C. Xiong, and S. Hoi, “Blip: Bootstrapping language-image pre-training for unified vision-language understanding and generation,” 2022. </a:t>
            </a:r>
            <a:r>
              <a:rPr lang="en-US" sz="1600" dirty="0" err="1"/>
              <a:t>arXiv</a:t>
            </a:r>
            <a:r>
              <a:rPr lang="en-US" sz="1600" dirty="0"/>
              <a:t> preprint arXiv:2201.12086. 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J. Li, D. Li, S. Savarese, and S. Hoi, “Blip-2: Bootstrapping language-image pre-training with frozen image encoders and large language models,” 2023. </a:t>
            </a:r>
            <a:r>
              <a:rPr lang="en-US" sz="1600" dirty="0" err="1"/>
              <a:t>arXiv</a:t>
            </a:r>
            <a:r>
              <a:rPr lang="en-US" sz="1600" dirty="0"/>
              <a:t> preprint arXiv:2301.12597.  </a:t>
            </a:r>
          </a:p>
          <a:p>
            <a:pPr marL="434850" indent="-434850">
              <a:buFont typeface="+mj-lt"/>
              <a:buAutoNum type="arabicPeriod"/>
            </a:pPr>
            <a:r>
              <a:rPr lang="en-US" sz="1600" dirty="0"/>
              <a:t> Z. Liu, C. Rodriguez-</a:t>
            </a:r>
            <a:r>
              <a:rPr lang="en-US" sz="1600" dirty="0" err="1"/>
              <a:t>Opazo</a:t>
            </a:r>
            <a:r>
              <a:rPr lang="en-US" sz="1600" dirty="0"/>
              <a:t>, D. </a:t>
            </a:r>
            <a:r>
              <a:rPr lang="en-US" sz="1600" dirty="0" err="1"/>
              <a:t>Teney</a:t>
            </a:r>
            <a:r>
              <a:rPr lang="en-US" sz="1600" dirty="0"/>
              <a:t>, and S. Gould, “Image retrieval on real-life images with pre-trained vision-and-language models,” ICCV, 2021. </a:t>
            </a:r>
            <a:r>
              <a:rPr lang="en-US" sz="1600" dirty="0" err="1"/>
              <a:t>arXiv</a:t>
            </a:r>
            <a:r>
              <a:rPr lang="en-US" sz="1600" dirty="0"/>
              <a:t> preprint arXiv:2108.04024v1.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</a:t>
            </a:r>
          </a:p>
          <a:p>
            <a:r>
              <a:rPr lang="en-US" sz="1600" dirty="0"/>
              <a:t>  </a:t>
            </a:r>
          </a:p>
          <a:p>
            <a:pPr marL="434850" indent="-43485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16815153" y="37995408"/>
            <a:ext cx="3325668" cy="918816"/>
          </a:xfrm>
          <a:prstGeom prst="rect">
            <a:avLst/>
          </a:prstGeom>
          <a:noFill/>
        </p:spPr>
        <p:txBody>
          <a:bodyPr wrap="none" lIns="86970" tIns="43485" rIns="86970" bIns="43485" rtlCol="0">
            <a:spAutoFit/>
          </a:bodyPr>
          <a:lstStyle/>
          <a:p>
            <a:r>
              <a:rPr lang="en-US" sz="54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053318" y="6361258"/>
            <a:ext cx="8962210" cy="358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Gain of popularity of Composed Image Retrieval (</a:t>
            </a:r>
            <a:r>
              <a:rPr lang="en-US" sz="3000" dirty="0" err="1">
                <a:latin typeface="Calibri" pitchFamily="34" charset="0"/>
              </a:rPr>
              <a:t>CoIR</a:t>
            </a:r>
            <a:r>
              <a:rPr lang="en-US" sz="3000" dirty="0">
                <a:latin typeface="Calibri" pitchFamily="34" charset="0"/>
              </a:rPr>
              <a:t>) task to search for relevant images in huge dataset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Librarians: research and cataloging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Detectives: criminal investigation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Content creators: create rich visual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Travel planning: comprehensive destination visuals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53317" y="5474916"/>
            <a:ext cx="8962209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Motivation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8214" y="5474916"/>
            <a:ext cx="18695743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CoVR-2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623806" y="38789424"/>
            <a:ext cx="14598591" cy="358293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Next steps: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Work on the improvement of captions as the paper pointed out (Section 3.2) by using </a:t>
            </a:r>
            <a:r>
              <a:rPr lang="en-US" sz="3000" dirty="0" err="1">
                <a:latin typeface="Calibri" pitchFamily="34" charset="0"/>
              </a:rPr>
              <a:t>Capfilt</a:t>
            </a:r>
            <a:r>
              <a:rPr lang="en-US" sz="3000" dirty="0">
                <a:latin typeface="Calibri" pitchFamily="34" charset="0"/>
              </a:rPr>
              <a:t> introduced in BLIP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Consider more diverse weighting configurations for MLP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Use other consistency loss </a:t>
            </a:r>
            <a:r>
              <a:rPr lang="en-US" sz="3000">
                <a:latin typeface="Calibri" pitchFamily="34" charset="0"/>
              </a:rPr>
              <a:t>functions Experiment </a:t>
            </a:r>
            <a:r>
              <a:rPr lang="en-US" sz="3000" dirty="0">
                <a:latin typeface="Calibri" pitchFamily="34" charset="0"/>
              </a:rPr>
              <a:t>with more epoch and with greater batch size 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606738" y="37485300"/>
            <a:ext cx="14598591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0526151" y="6576223"/>
            <a:ext cx="18740091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Method Overview of </a:t>
            </a:r>
            <a:r>
              <a:rPr lang="en-US" sz="3000" b="1" dirty="0" err="1">
                <a:latin typeface="+mn-lt"/>
              </a:rPr>
              <a:t>WebVid-CoVR</a:t>
            </a:r>
            <a:endParaRPr lang="en-US" sz="3000" b="1" dirty="0">
              <a:latin typeface="+mn-lt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2BA3588-7EE3-9B0B-4C69-CA5C6E7080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41" y="10024595"/>
            <a:ext cx="9269580" cy="215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189">
            <a:extLst>
              <a:ext uri="{FF2B5EF4-FFF2-40B4-BE49-F238E27FC236}">
                <a16:creationId xmlns:a16="http://schemas.microsoft.com/office/drawing/2014/main" id="{601BCACD-E43F-DAE9-88CB-4EF7DCD4C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152" y="12472751"/>
            <a:ext cx="8973374" cy="542959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Most </a:t>
            </a:r>
            <a:r>
              <a:rPr lang="en-US" sz="3000" dirty="0" err="1">
                <a:latin typeface="Calibri" pitchFamily="34" charset="0"/>
              </a:rPr>
              <a:t>CoIR</a:t>
            </a:r>
            <a:r>
              <a:rPr lang="en-US" sz="3000" dirty="0">
                <a:latin typeface="Calibri" pitchFamily="34" charset="0"/>
              </a:rPr>
              <a:t> task require manually annotated datasets, but this limits scalability because</a:t>
            </a:r>
          </a:p>
          <a:p>
            <a:pPr marL="457200" indent="-457200" eaLnBrk="1" hangingPunct="1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        Time-consuming</a:t>
            </a:r>
          </a:p>
          <a:p>
            <a:pPr marL="457200" indent="-457200" eaLnBrk="1" hangingPunct="1">
              <a:buClr>
                <a:srgbClr val="92D050"/>
              </a:buClr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        Expensive</a:t>
            </a:r>
          </a:p>
          <a:p>
            <a:pPr eaLnBrk="1" hangingPunct="1"/>
            <a:r>
              <a:rPr lang="en-US" sz="3000" dirty="0">
                <a:latin typeface="Calibri" pitchFamily="34" charset="0"/>
              </a:rPr>
              <a:t>CoVR-2: Automatic Data Construction for Composed Video Retrieval: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Scalable, automatic dataset creation methodology.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Generate triplets from video-caption pairs, expanding the scope to include Composed Video Retrieval (</a:t>
            </a:r>
            <a:r>
              <a:rPr lang="en-US" sz="3000" dirty="0" err="1">
                <a:latin typeface="Calibri" pitchFamily="34" charset="0"/>
              </a:rPr>
              <a:t>CoVR</a:t>
            </a:r>
            <a:r>
              <a:rPr lang="en-US" sz="3000" dirty="0">
                <a:latin typeface="Calibri" pitchFamily="34" charset="0"/>
              </a:rPr>
              <a:t>)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Build a novel model to respond to the </a:t>
            </a:r>
            <a:r>
              <a:rPr lang="en-US" sz="3000" dirty="0" err="1">
                <a:latin typeface="Calibri" pitchFamily="34" charset="0"/>
              </a:rPr>
              <a:t>CoVR</a:t>
            </a:r>
            <a:r>
              <a:rPr lang="en-US" sz="3000" dirty="0">
                <a:latin typeface="Calibri" pitchFamily="34" charset="0"/>
              </a:rPr>
              <a:t> task</a:t>
            </a:r>
          </a:p>
        </p:txBody>
      </p:sp>
      <p:sp>
        <p:nvSpPr>
          <p:cNvPr id="17" name="Text Box 194">
            <a:extLst>
              <a:ext uri="{FF2B5EF4-FFF2-40B4-BE49-F238E27FC236}">
                <a16:creationId xmlns:a16="http://schemas.microsoft.com/office/drawing/2014/main" id="{5FD32AE6-C6AF-44D2-9123-FF942E91C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3140" y="20761635"/>
            <a:ext cx="14273725" cy="17362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Develop a </a:t>
            </a:r>
            <a:r>
              <a:rPr lang="en-US" sz="3000" b="1" dirty="0">
                <a:latin typeface="Calibri" pitchFamily="34" charset="0"/>
              </a:rPr>
              <a:t>MLP</a:t>
            </a:r>
            <a:r>
              <a:rPr lang="en-US" sz="3000" dirty="0">
                <a:latin typeface="Calibri" pitchFamily="34" charset="0"/>
              </a:rPr>
              <a:t> to balance contributions of image, text, and multimodal embeddings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>
                <a:latin typeface="Calibri" pitchFamily="34" charset="0"/>
              </a:rPr>
              <a:t>Design a </a:t>
            </a:r>
            <a:r>
              <a:rPr lang="en-US" sz="3000" b="1" dirty="0">
                <a:latin typeface="Calibri" pitchFamily="34" charset="0"/>
              </a:rPr>
              <a:t>consistency loss </a:t>
            </a:r>
            <a:r>
              <a:rPr lang="en-US" sz="3000" dirty="0">
                <a:latin typeface="Calibri" pitchFamily="34" charset="0"/>
              </a:rPr>
              <a:t>function to align multimodal, image, and text embeddings in the embedding space</a:t>
            </a:r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E5017A6F-662B-2E09-2F33-E985BB508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29" y="7875774"/>
            <a:ext cx="10074315" cy="485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75B6C4D3-3069-6FF6-45CE-DBC00011B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9444" y="8046980"/>
            <a:ext cx="8610600" cy="672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1700D474-B945-A651-73D4-304E91E11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03244" y="8806830"/>
            <a:ext cx="8686799" cy="136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85D8B7EC-4E16-F6CB-B77D-CA4B7CF9D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9443" y="10296243"/>
            <a:ext cx="8686799" cy="72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190">
            <a:extLst>
              <a:ext uri="{FF2B5EF4-FFF2-40B4-BE49-F238E27FC236}">
                <a16:creationId xmlns:a16="http://schemas.microsoft.com/office/drawing/2014/main" id="{1751D4F5-B623-60A9-5961-0588FBF63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8929" y="12744856"/>
            <a:ext cx="18857950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CoVR-BLIP-2 Architecture</a:t>
            </a:r>
          </a:p>
        </p:txBody>
      </p:sp>
      <p:pic>
        <p:nvPicPr>
          <p:cNvPr id="1044" name="Picture 20">
            <a:extLst>
              <a:ext uri="{FF2B5EF4-FFF2-40B4-BE49-F238E27FC236}">
                <a16:creationId xmlns:a16="http://schemas.microsoft.com/office/drawing/2014/main" id="{64360D93-147E-30F6-6E6D-3A9F75CD6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4308" y="13902258"/>
            <a:ext cx="14273725" cy="5873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340EFF9-6961-52AB-96B7-EB08E8F1847B}"/>
              </a:ext>
            </a:extLst>
          </p:cNvPr>
          <p:cNvSpPr/>
          <p:nvPr/>
        </p:nvSpPr>
        <p:spPr>
          <a:xfrm>
            <a:off x="1097940" y="19854136"/>
            <a:ext cx="14258925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Works</a:t>
            </a:r>
          </a:p>
        </p:txBody>
      </p:sp>
      <p:sp>
        <p:nvSpPr>
          <p:cNvPr id="40" name="Text Box 194">
            <a:extLst>
              <a:ext uri="{FF2B5EF4-FFF2-40B4-BE49-F238E27FC236}">
                <a16:creationId xmlns:a16="http://schemas.microsoft.com/office/drawing/2014/main" id="{1A0BE55B-FF1B-AD89-858E-98920A83E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940" y="22497907"/>
            <a:ext cx="14258925" cy="1274607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/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(MLP)</a:t>
            </a:r>
            <a:r>
              <a:rPr lang="fr-MA" sz="3000" b="1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attention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w1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Visual </a:t>
            </a:r>
            <a:r>
              <a:rPr lang="fr-MA" sz="3000" b="0" i="0" u="none" strike="noStrike" dirty="0" err="1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w2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Textual</a:t>
            </a:r>
            <a:r>
              <a:rPr lang="fr-MA" sz="30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lang="fr-MA" sz="3000" b="0" i="0" u="none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embeddings</a:t>
            </a:r>
            <a:endParaRPr lang="fr-MA" sz="3000" b="0" dirty="0">
              <a:effectLst/>
            </a:endParaRPr>
          </a:p>
        </p:txBody>
      </p:sp>
      <p:pic>
        <p:nvPicPr>
          <p:cNvPr id="55" name="Image 54">
            <a:extLst>
              <a:ext uri="{FF2B5EF4-FFF2-40B4-BE49-F238E27FC236}">
                <a16:creationId xmlns:a16="http://schemas.microsoft.com/office/drawing/2014/main" id="{B43602F1-9C01-645C-8EED-84B5F6A5C7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940" y="24050903"/>
            <a:ext cx="14370499" cy="4085941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16451F79-8BA2-86AF-5FA3-4CDA9A997417}"/>
              </a:ext>
            </a:extLst>
          </p:cNvPr>
          <p:cNvSpPr/>
          <p:nvPr/>
        </p:nvSpPr>
        <p:spPr>
          <a:xfrm>
            <a:off x="15466087" y="19854135"/>
            <a:ext cx="13800156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sp>
        <p:nvSpPr>
          <p:cNvPr id="57" name="Text Box 190">
            <a:extLst>
              <a:ext uri="{FF2B5EF4-FFF2-40B4-BE49-F238E27FC236}">
                <a16:creationId xmlns:a16="http://schemas.microsoft.com/office/drawing/2014/main" id="{B709BA73-6EB2-C7A1-7276-CFF997871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6088" y="20935153"/>
            <a:ext cx="13747870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I/ Reproduction of the results:</a:t>
            </a:r>
          </a:p>
        </p:txBody>
      </p:sp>
      <p:pic>
        <p:nvPicPr>
          <p:cNvPr id="1046" name="Picture 22">
            <a:extLst>
              <a:ext uri="{FF2B5EF4-FFF2-40B4-BE49-F238E27FC236}">
                <a16:creationId xmlns:a16="http://schemas.microsoft.com/office/drawing/2014/main" id="{0F646A55-512F-C594-3272-DE1BDA25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66087" y="21908371"/>
            <a:ext cx="13800155" cy="116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23">
            <a:extLst>
              <a:ext uri="{FF2B5EF4-FFF2-40B4-BE49-F238E27FC236}">
                <a16:creationId xmlns:a16="http://schemas.microsoft.com/office/drawing/2014/main" id="{7DEEC3D6-8F57-C574-FDCF-4C74BAF7D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4757" y="23154203"/>
            <a:ext cx="13452122" cy="66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 Box 190">
            <a:extLst>
              <a:ext uri="{FF2B5EF4-FFF2-40B4-BE49-F238E27FC236}">
                <a16:creationId xmlns:a16="http://schemas.microsoft.com/office/drawing/2014/main" id="{80EBC855-B5AB-C957-7C67-06C466ECA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87550" y="23959317"/>
            <a:ext cx="4451184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model: blip2-l-coco</a:t>
            </a:r>
          </a:p>
        </p:txBody>
      </p:sp>
      <p:pic>
        <p:nvPicPr>
          <p:cNvPr id="1049" name="Picture 25">
            <a:extLst>
              <a:ext uri="{FF2B5EF4-FFF2-40B4-BE49-F238E27FC236}">
                <a16:creationId xmlns:a16="http://schemas.microsoft.com/office/drawing/2014/main" id="{098BF73E-CB07-048A-BD89-4BCC6139F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5899" y="24955805"/>
            <a:ext cx="4432834" cy="328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 Box 190">
            <a:extLst>
              <a:ext uri="{FF2B5EF4-FFF2-40B4-BE49-F238E27FC236}">
                <a16:creationId xmlns:a16="http://schemas.microsoft.com/office/drawing/2014/main" id="{A8B2B64F-50F9-81A8-6461-9A52A9AB6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28427" y="23942831"/>
            <a:ext cx="4451184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model: blip2-l-coco_coir</a:t>
            </a:r>
          </a:p>
        </p:txBody>
      </p:sp>
      <p:pic>
        <p:nvPicPr>
          <p:cNvPr id="1051" name="Picture 27">
            <a:extLst>
              <a:ext uri="{FF2B5EF4-FFF2-40B4-BE49-F238E27FC236}">
                <a16:creationId xmlns:a16="http://schemas.microsoft.com/office/drawing/2014/main" id="{7B84AC3A-C7F0-8231-B521-0A77E9836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2311" y="24932617"/>
            <a:ext cx="4451184" cy="3286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" name="Text Box 190">
            <a:extLst>
              <a:ext uri="{FF2B5EF4-FFF2-40B4-BE49-F238E27FC236}">
                <a16:creationId xmlns:a16="http://schemas.microsoft.com/office/drawing/2014/main" id="{A4AF2240-9CE3-DD63-E015-92DFAA11F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317" y="29354467"/>
            <a:ext cx="13394520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II/ Balancing contributions of image, text, and multimodal embeddings with MLP:</a:t>
            </a:r>
          </a:p>
        </p:txBody>
      </p:sp>
      <p:pic>
        <p:nvPicPr>
          <p:cNvPr id="1053" name="Picture 29">
            <a:extLst>
              <a:ext uri="{FF2B5EF4-FFF2-40B4-BE49-F238E27FC236}">
                <a16:creationId xmlns:a16="http://schemas.microsoft.com/office/drawing/2014/main" id="{5DCB9B29-571C-73C5-51B9-2D31D35772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48"/>
          <a:stretch/>
        </p:blipFill>
        <p:spPr bwMode="auto">
          <a:xfrm>
            <a:off x="5983574" y="34482194"/>
            <a:ext cx="4047826" cy="2894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C6D9C352-3CE3-126E-0879-F4564444EC55}"/>
              </a:ext>
            </a:extLst>
          </p:cNvPr>
          <p:cNvSpPr/>
          <p:nvPr/>
        </p:nvSpPr>
        <p:spPr>
          <a:xfrm>
            <a:off x="1097940" y="28266850"/>
            <a:ext cx="28092103" cy="89154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Results</a:t>
            </a:r>
          </a:p>
        </p:txBody>
      </p:sp>
      <p:pic>
        <p:nvPicPr>
          <p:cNvPr id="1056" name="Picture 32">
            <a:extLst>
              <a:ext uri="{FF2B5EF4-FFF2-40B4-BE49-F238E27FC236}">
                <a16:creationId xmlns:a16="http://schemas.microsoft.com/office/drawing/2014/main" id="{58710AB0-A844-D8CD-36CF-AB21446224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44"/>
          <a:stretch/>
        </p:blipFill>
        <p:spPr bwMode="auto">
          <a:xfrm>
            <a:off x="23669628" y="31852309"/>
            <a:ext cx="5648325" cy="3762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Text Box 190">
            <a:extLst>
              <a:ext uri="{FF2B5EF4-FFF2-40B4-BE49-F238E27FC236}">
                <a16:creationId xmlns:a16="http://schemas.microsoft.com/office/drawing/2014/main" id="{EB96FB18-B06A-FAAA-726D-F5257DAE1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6865" y="29363797"/>
            <a:ext cx="13394520" cy="81294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b="1" dirty="0">
                <a:latin typeface="+mn-lt"/>
              </a:rPr>
              <a:t>III/ Consistency loss </a:t>
            </a:r>
          </a:p>
        </p:txBody>
      </p:sp>
      <p:sp>
        <p:nvSpPr>
          <p:cNvPr id="1024" name="Text Box 194">
            <a:extLst>
              <a:ext uri="{FF2B5EF4-FFF2-40B4-BE49-F238E27FC236}">
                <a16:creationId xmlns:a16="http://schemas.microsoft.com/office/drawing/2014/main" id="{12E0ADD1-C505-A8F5-03D9-F8E4BEF78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0736" y="30209050"/>
            <a:ext cx="8308891" cy="7276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000" dirty="0">
                <a:latin typeface="Calibri" pitchFamily="34" charset="0"/>
              </a:rPr>
              <a:t>Combine features using learned weights: </a:t>
            </a:r>
          </a:p>
          <a:p>
            <a:pPr eaLnBrk="1" hangingPunct="1"/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(MLP)</a:t>
            </a:r>
            <a:r>
              <a:rPr lang="fr-MA" sz="3000" b="1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attention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w1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Visual </a:t>
            </a:r>
            <a:r>
              <a:rPr lang="fr-MA" sz="3000" b="0" i="0" u="none" strike="noStrike" dirty="0" err="1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w2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Textual</a:t>
            </a:r>
            <a:r>
              <a:rPr lang="fr-MA" sz="30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lang="fr-MA" sz="3000" b="0" i="0" u="none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embeddings</a:t>
            </a:r>
            <a:endParaRPr lang="en-US" sz="3000" dirty="0">
              <a:latin typeface="Calibri" pitchFamily="34" charset="0"/>
            </a:endParaRP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000" dirty="0">
                <a:latin typeface="Calibri" pitchFamily="34" charset="0"/>
              </a:rPr>
              <a:t>Consistency loss integration with 3 loss components :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 err="1">
                <a:latin typeface="Calibri" pitchFamily="34" charset="0"/>
              </a:rPr>
              <a:t>si-ti</a:t>
            </a:r>
            <a:r>
              <a:rPr lang="en-US" sz="3000" dirty="0">
                <a:latin typeface="Calibri" pitchFamily="34" charset="0"/>
              </a:rPr>
              <a:t> loss: Align query (source image) with target image features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 err="1">
                <a:latin typeface="Calibri" pitchFamily="34" charset="0"/>
              </a:rPr>
              <a:t>si</a:t>
            </a:r>
            <a:r>
              <a:rPr lang="en-US" sz="3000" dirty="0">
                <a:latin typeface="Calibri" pitchFamily="34" charset="0"/>
              </a:rPr>
              <a:t>-text loss: Align query with text features. </a:t>
            </a:r>
          </a:p>
          <a:p>
            <a:pPr marL="457200" indent="-457200" eaLnBrk="1" hangingPunct="1">
              <a:buFont typeface="Arial" panose="020B0604020202020204" pitchFamily="34" charset="0"/>
              <a:buChar char="•"/>
            </a:pPr>
            <a:r>
              <a:rPr lang="en-US" sz="3000" dirty="0" err="1">
                <a:latin typeface="Calibri" pitchFamily="34" charset="0"/>
              </a:rPr>
              <a:t>si-img</a:t>
            </a:r>
            <a:r>
              <a:rPr lang="en-US" sz="3000" dirty="0">
                <a:latin typeface="Calibri" pitchFamily="34" charset="0"/>
              </a:rPr>
              <a:t> loss: Align query with image features</a:t>
            </a:r>
          </a:p>
          <a:p>
            <a:pPr eaLnBrk="1" hangingPunct="1"/>
            <a:endParaRPr lang="en-US" sz="3000" dirty="0">
              <a:latin typeface="Calibri" pitchFamily="34" charset="0"/>
            </a:endParaRPr>
          </a:p>
          <a:p>
            <a:pPr eaLnBrk="1" hangingPunct="1"/>
            <a:r>
              <a:rPr lang="en-US" sz="3000" dirty="0">
                <a:latin typeface="Calibri" pitchFamily="34" charset="0"/>
              </a:rPr>
              <a:t>Promote cross-modal consistency for enhanced embedding quality, but didn’t deal with </a:t>
            </a:r>
            <a:r>
              <a:rPr lang="en-US" sz="3000" dirty="0" err="1">
                <a:latin typeface="Calibri" pitchFamily="34" charset="0"/>
              </a:rPr>
              <a:t>overfiting</a:t>
            </a:r>
            <a:r>
              <a:rPr lang="en-US" sz="3000" dirty="0">
                <a:latin typeface="Calibri" pitchFamily="34" charset="0"/>
              </a:rPr>
              <a:t> over one feature</a:t>
            </a:r>
          </a:p>
        </p:txBody>
      </p:sp>
      <p:pic>
        <p:nvPicPr>
          <p:cNvPr id="1029" name="Image 1028" descr="Une image contenant texte, Police, ligne, capture d’écran&#10;&#10;Description générée automatiquement">
            <a:extLst>
              <a:ext uri="{FF2B5EF4-FFF2-40B4-BE49-F238E27FC236}">
                <a16:creationId xmlns:a16="http://schemas.microsoft.com/office/drawing/2014/main" id="{91C72352-CCFD-FE9F-AC04-143C4E2F342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738" y="773927"/>
            <a:ext cx="5104866" cy="3187803"/>
          </a:xfrm>
          <a:prstGeom prst="rect">
            <a:avLst/>
          </a:prstGeom>
        </p:spPr>
      </p:pic>
      <p:pic>
        <p:nvPicPr>
          <p:cNvPr id="1035" name="Image 1034" descr="Une image contenant Police, texte, Graphique, blanc&#10;&#10;Description générée automatiquement">
            <a:extLst>
              <a:ext uri="{FF2B5EF4-FFF2-40B4-BE49-F238E27FC236}">
                <a16:creationId xmlns:a16="http://schemas.microsoft.com/office/drawing/2014/main" id="{31485DBA-7EDC-E50C-6B72-2D62B71F473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0094" y="899990"/>
            <a:ext cx="4572000" cy="3048000"/>
          </a:xfrm>
          <a:prstGeom prst="rect">
            <a:avLst/>
          </a:prstGeom>
        </p:spPr>
      </p:pic>
      <p:pic>
        <p:nvPicPr>
          <p:cNvPr id="1039" name="Image 1038">
            <a:extLst>
              <a:ext uri="{FF2B5EF4-FFF2-40B4-BE49-F238E27FC236}">
                <a16:creationId xmlns:a16="http://schemas.microsoft.com/office/drawing/2014/main" id="{2E7DF6CB-C55F-9292-4AF6-D9DC793FD73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0209" y="34482195"/>
            <a:ext cx="4903782" cy="2724323"/>
          </a:xfrm>
          <a:prstGeom prst="rect">
            <a:avLst/>
          </a:prstGeom>
        </p:spPr>
      </p:pic>
      <p:sp>
        <p:nvSpPr>
          <p:cNvPr id="1043" name="Text Box 194">
            <a:extLst>
              <a:ext uri="{FF2B5EF4-FFF2-40B4-BE49-F238E27FC236}">
                <a16:creationId xmlns:a16="http://schemas.microsoft.com/office/drawing/2014/main" id="{A247092B-B4C2-313B-ED5D-972882740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7940" y="30398472"/>
            <a:ext cx="4642686" cy="265960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/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1/3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Visual </a:t>
            </a:r>
            <a:r>
              <a:rPr lang="fr-MA" sz="3000" b="0" i="0" u="none" strike="noStrike" dirty="0" err="1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1/3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Textual</a:t>
            </a:r>
            <a:r>
              <a:rPr lang="fr-MA" sz="30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1/3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lang="fr-MA" sz="3000" b="0" i="0" u="none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embeddings</a:t>
            </a:r>
            <a:endParaRPr lang="fr-MA" sz="3000" b="0" dirty="0">
              <a:effectLst/>
            </a:endParaRPr>
          </a:p>
        </p:txBody>
      </p:sp>
      <p:pic>
        <p:nvPicPr>
          <p:cNvPr id="1048" name="Image 1047">
            <a:extLst>
              <a:ext uri="{FF2B5EF4-FFF2-40B4-BE49-F238E27FC236}">
                <a16:creationId xmlns:a16="http://schemas.microsoft.com/office/drawing/2014/main" id="{CAA6C066-5F24-AF02-12C8-FB091E6FDD3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58976" y="14029272"/>
            <a:ext cx="4927904" cy="1526383"/>
          </a:xfrm>
          <a:prstGeom prst="rect">
            <a:avLst/>
          </a:prstGeom>
        </p:spPr>
      </p:pic>
      <p:pic>
        <p:nvPicPr>
          <p:cNvPr id="1052" name="Image 1051">
            <a:extLst>
              <a:ext uri="{FF2B5EF4-FFF2-40B4-BE49-F238E27FC236}">
                <a16:creationId xmlns:a16="http://schemas.microsoft.com/office/drawing/2014/main" id="{200C0D87-4FFD-EFC2-E54C-6E0BB80294E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5251004" y="17162322"/>
            <a:ext cx="3962953" cy="514422"/>
          </a:xfrm>
          <a:prstGeom prst="rect">
            <a:avLst/>
          </a:prstGeom>
        </p:spPr>
      </p:pic>
      <p:sp>
        <p:nvSpPr>
          <p:cNvPr id="1055" name="Text Box 194">
            <a:extLst>
              <a:ext uri="{FF2B5EF4-FFF2-40B4-BE49-F238E27FC236}">
                <a16:creationId xmlns:a16="http://schemas.microsoft.com/office/drawing/2014/main" id="{CF473112-ACC9-B122-ADFC-6C46225B0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317" y="34081944"/>
            <a:ext cx="4642685" cy="312126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wrap="square" lIns="173940" tIns="173940" rIns="173940" bIns="17394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rtl="0"/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(MLP)</a:t>
            </a:r>
            <a:r>
              <a:rPr lang="fr-MA" sz="3000" b="1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Weighted</a:t>
            </a:r>
            <a:r>
              <a:rPr lang="fr-MA" sz="3000" b="1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attention </a:t>
            </a:r>
            <a:r>
              <a:rPr lang="fr-MA" sz="3000" b="1" i="0" u="none" strike="noStrike" dirty="0" err="1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framework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w1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Visual </a:t>
            </a:r>
            <a:r>
              <a:rPr lang="fr-MA" sz="3000" b="0" i="0" u="none" strike="noStrike" dirty="0" err="1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BF9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w2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Textual</a:t>
            </a:r>
            <a:r>
              <a:rPr lang="fr-MA" sz="30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+ </a:t>
            </a:r>
            <a:r>
              <a:rPr lang="fr-MA" sz="3000" b="0" i="1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w3 </a:t>
            </a:r>
            <a:r>
              <a:rPr lang="fr-MA" sz="30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Hybrid</a:t>
            </a:r>
            <a:r>
              <a:rPr lang="fr-MA" sz="3000" b="0" i="0" u="none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MA" sz="3000" b="0" i="0" u="none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</a:rPr>
              <a:t>embeddings</a:t>
            </a:r>
            <a:endParaRPr lang="fr-MA" sz="3000" b="0" dirty="0">
              <a:effectLst/>
            </a:endParaRPr>
          </a:p>
        </p:txBody>
      </p:sp>
      <p:pic>
        <p:nvPicPr>
          <p:cNvPr id="1058" name="Picture 34">
            <a:extLst>
              <a:ext uri="{FF2B5EF4-FFF2-40B4-BE49-F238E27FC236}">
                <a16:creationId xmlns:a16="http://schemas.microsoft.com/office/drawing/2014/main" id="{5C38E7C9-0ECF-5A1A-7A5E-0D735BE78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487" y="30486892"/>
            <a:ext cx="4047826" cy="3242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3268</TotalTime>
  <Words>537</Words>
  <Application>Microsoft Office PowerPoint</Application>
  <PresentationFormat>Personnalisé</PresentationFormat>
  <Paragraphs>60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A0/A1</dc:title>
  <dc:creator>Jay Larson</dc:creator>
  <dc:description>Quality poster printing
www.genigraphics.com
1-800-790-4001</dc:description>
  <cp:lastModifiedBy>Ilias RAMI</cp:lastModifiedBy>
  <cp:revision>63</cp:revision>
  <cp:lastPrinted>2013-02-12T02:21:55Z</cp:lastPrinted>
  <dcterms:created xsi:type="dcterms:W3CDTF">2013-02-10T21:14:48Z</dcterms:created>
  <dcterms:modified xsi:type="dcterms:W3CDTF">2025-01-25T17:15:29Z</dcterms:modified>
</cp:coreProperties>
</file>